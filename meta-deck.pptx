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Default Extension="png" ContentType="image/png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présentation a été générée par le plugin qu'elle décrit. Chaque slide démontre une fonctionnalité.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slide utilise des icônes Lucide sur chaque puce — une fonctionnalité native du plugin.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Encore des icônes Lucide ! Le plugin les convertit de SVG en PNG via @resvg/resvg-js.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layout twoColumns est un des 6 layouts natifs du gabarit Tier 2 par défaut.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icônes fonctionnent aussi en twoColumns — chaque colonne peut avoir ses propres icônes.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layout timeline dessine des formes OOXML avec couleurs par statut : vert (done), orange (in-progress), gris (planned).</a:t>
            </a:r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MÉTA : cette slide demande un layout 'kpi' mais le gabarit Tier 2 ne le supporte pas. Le système la dégrade en 'bullets'. Vous voyez le résultat de la dégradation !</a:t>
            </a:r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cercle est bouclé : le plugin se décrit et se démontre simultanément.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TITLE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ctrTitle" idx="0"/>
          </p:nvPr>
        </p:nvSpPr>
        <p:spPr>
          <a:xfrm>
            <a:off x="457200" y="1828800"/>
            <a:ext cx="11277600" cy="1828800"/>
          </a:xfrm>
        </p:spPr>
        <p:txBody>
          <a:bodyPr anchor="b"/>
          <a:lstStyle/>
          <a:p>
            <a:pPr algn="ctr"/>
            <a:endParaRPr lang="en-US" sz="4400" b="1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ubTitle" idx="1"/>
          </p:nvPr>
        </p:nvSpPr>
        <p:spPr>
          <a:xfrm>
            <a:off x="457200" y="4114800"/>
            <a:ext cx="11277600" cy="914400"/>
          </a:xfrm>
        </p:spPr>
        <p:txBody>
          <a:bodyPr anchor="t"/>
          <a:lstStyle/>
          <a:p>
            <a:pPr algn="ctr"/>
            <a:endParaRPr lang="en-US" sz="2000">
              <a:solidFill>
                <a:srgbClr val="B8C6D9"/>
              </a:solidFill>
              <a:latin typeface="+mn-lt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SECTION">
    <p:bg>
      <p:bgPr>
        <a:solidFill>
          <a:srgbClr val="2D7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title" idx="0"/>
          </p:nvPr>
        </p:nvSpPr>
        <p:spPr>
          <a:xfrm>
            <a:off x="457200" y="1943100"/>
            <a:ext cx="11277600" cy="1600200"/>
          </a:xfrm>
        </p:spPr>
        <p:txBody>
          <a:bodyPr anchor="b"/>
          <a:lstStyle/>
          <a:p>
            <a:pPr algn="l"/>
            <a:endParaRPr lang="en-US" sz="3200" b="1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>
          <a:xfrm>
            <a:off x="457200" y="4000500"/>
            <a:ext cx="11277600" cy="914400"/>
          </a:xfrm>
        </p:spPr>
        <p:txBody>
          <a:bodyPr anchor="t"/>
          <a:lstStyle/>
          <a:p>
            <a:pPr algn="l"/>
            <a:endParaRPr lang="en-US" sz="1800">
              <a:solidFill>
                <a:srgbClr val="D4E6F1"/>
              </a:solidFill>
              <a:latin typeface="+mn-lt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BULLETS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title" idx="0"/>
          </p:nvPr>
        </p:nvSpPr>
        <p:spPr>
          <a:xfrm>
            <a:off x="457200" y="457200"/>
            <a:ext cx="11277600" cy="1143000"/>
          </a:xfrm>
        </p:spPr>
        <p:txBody>
          <a:bodyPr anchor="b"/>
          <a:lstStyle/>
          <a:p>
            <a:pPr algn="l"/>
            <a:endParaRPr lang="en-US" sz="2800" b="1">
              <a:solidFill>
                <a:srgbClr val="1B2A4A"/>
              </a:solidFill>
              <a:latin typeface="+mj-lt"/>
            </a:endParaRPr>
          </a:p>
        </p:txBody>
      </p:sp>
      <p:sp>
        <p:nvSpPr>
          <p:cNvPr id="5" name="Accent Line"/>
          <p:cNvSpPr/>
          <p:nvPr/>
        </p:nvSpPr>
        <p:spPr>
          <a:xfrm>
            <a:off x="457200" y="1828800"/>
            <a:ext cx="11277600" cy="0"/>
          </a:xfrm>
          <a:prstGeom prst="line">
            <a:avLst/>
          </a:prstGeom>
          <a:ln w="28575">
            <a:solidFill>
              <a:srgbClr val="2D7DD2"/>
            </a:solidFill>
          </a:ln>
        </p:spPr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11277600" cy="4343400"/>
          </a:xfrm>
        </p:spPr>
        <p:txBody>
          <a:bodyPr anchor="t"/>
          <a:lstStyle>
            <a:lvl1pPr marL="342900" indent="-342900">
              <a:buSzPct val="100000"/>
              <a:buFont typeface="Arial" panose="020B0604020202020204"/>
              <a:buClr>
                <a:srgbClr val="2D7DD2"/>
              </a:buClr>
              <a:buChar char="•"/>
              <a:defRPr sz="1600">
                <a:solidFill>
                  <a:srgbClr val="2C3E50"/>
                </a:solidFill>
                <a:latin typeface="+mn-lt"/>
              </a:defRPr>
            </a:lvl1pPr>
          </a:lstStyle>
          <a:p>
            <a:endParaRPr lang="en-US" sz="1600">
              <a:solidFill>
                <a:srgbClr val="2C3E50"/>
              </a:solidFill>
              <a:latin typeface="+mn-lt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GENERIC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title" idx="0"/>
          </p:nvPr>
        </p:nvSpPr>
        <p:spPr>
          <a:xfrm>
            <a:off x="457200" y="457200"/>
            <a:ext cx="11277600" cy="1143000"/>
          </a:xfrm>
        </p:spPr>
        <p:txBody>
          <a:bodyPr anchor="b"/>
          <a:lstStyle/>
          <a:p>
            <a:pPr algn="l"/>
            <a:endParaRPr lang="en-US" sz="2800" b="1">
              <a:solidFill>
                <a:srgbClr val="1B2A4A"/>
              </a:solidFill>
              <a:latin typeface="+mj-lt"/>
            </a:endParaRPr>
          </a:p>
        </p:txBody>
      </p:sp>
      <p:sp>
        <p:nvSpPr>
          <p:cNvPr id="5" name="Accent Line"/>
          <p:cNvSpPr/>
          <p:nvPr/>
        </p:nvSpPr>
        <p:spPr>
          <a:xfrm>
            <a:off x="457200" y="1828800"/>
            <a:ext cx="11277600" cy="0"/>
          </a:xfrm>
          <a:prstGeom prst="line">
            <a:avLst/>
          </a:prstGeom>
          <a:ln w="28575">
            <a:solidFill>
              <a:srgbClr val="2D7DD2"/>
            </a:solidFill>
          </a:ln>
        </p:spPr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11277600" cy="4343400"/>
          </a:xfrm>
        </p:spPr>
        <p:txBody>
          <a:bodyPr anchor="t"/>
          <a:lstStyle/>
          <a:p>
            <a:endParaRPr lang="en-US" sz="1600">
              <a:solidFill>
                <a:srgbClr val="2C3E50"/>
              </a:solidFill>
              <a:latin typeface="+mn-lt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TWO_COLUMNS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title" idx="0"/>
          </p:nvPr>
        </p:nvSpPr>
        <p:spPr>
          <a:xfrm>
            <a:off x="457200" y="457200"/>
            <a:ext cx="11277600" cy="1143000"/>
          </a:xfrm>
        </p:spPr>
        <p:txBody>
          <a:bodyPr anchor="b"/>
          <a:lstStyle/>
          <a:p>
            <a:pPr algn="l"/>
            <a:endParaRPr lang="en-US" sz="2800" b="1">
              <a:solidFill>
                <a:srgbClr val="1B2A4A"/>
              </a:solidFill>
              <a:latin typeface="+mj-lt"/>
            </a:endParaRPr>
          </a:p>
        </p:txBody>
      </p:sp>
      <p:sp>
        <p:nvSpPr>
          <p:cNvPr id="6" name="Accent Line"/>
          <p:cNvSpPr/>
          <p:nvPr/>
        </p:nvSpPr>
        <p:spPr>
          <a:xfrm>
            <a:off x="457200" y="1828800"/>
            <a:ext cx="11277600" cy="0"/>
          </a:xfrm>
          <a:prstGeom prst="line">
            <a:avLst/>
          </a:prstGeom>
          <a:ln w="28575">
            <a:solidFill>
              <a:srgbClr val="2D7DD2"/>
            </a:solidFill>
          </a:ln>
        </p:spPr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5524500" cy="4343400"/>
          </a:xfrm>
        </p:spPr>
        <p:txBody>
          <a:bodyPr anchor="t"/>
          <a:lstStyle>
            <a:lvl1pPr marL="342900" indent="-342900">
              <a:buSzPct val="100000"/>
              <a:buFont typeface="Arial" panose="020B0604020202020204"/>
              <a:buClr>
                <a:srgbClr val="2D7DD2"/>
              </a:buClr>
              <a:buChar char="•"/>
              <a:defRPr sz="1600">
                <a:solidFill>
                  <a:srgbClr val="2C3E50"/>
                </a:solidFill>
                <a:latin typeface="+mn-lt"/>
              </a:defRPr>
            </a:lvl1pPr>
          </a:lstStyle>
          <a:p>
            <a:endParaRPr lang="en-US" sz="1600">
              <a:solidFill>
                <a:srgbClr val="2C3E50"/>
              </a:solidFill>
              <a:latin typeface="+mn-l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 idx="2"/>
          </p:nvPr>
        </p:nvSpPr>
        <p:spPr>
          <a:xfrm>
            <a:off x="6210300" y="2057400"/>
            <a:ext cx="5524500" cy="4343400"/>
          </a:xfrm>
        </p:spPr>
        <p:txBody>
          <a:bodyPr anchor="t"/>
          <a:lstStyle>
            <a:lvl1pPr marL="342900" indent="-342900">
              <a:buSzPct val="100000"/>
              <a:buFont typeface="Arial" panose="020B0604020202020204"/>
              <a:buClr>
                <a:srgbClr val="2D7DD2"/>
              </a:buClr>
              <a:buChar char="•"/>
              <a:defRPr sz="1600">
                <a:solidFill>
                  <a:srgbClr val="2C3E50"/>
                </a:solidFill>
                <a:latin typeface="+mn-lt"/>
              </a:defRPr>
            </a:lvl1pPr>
          </a:lstStyle>
          <a:p>
            <a:endParaRPr lang="en-US" sz="1600">
              <a:solidFill>
                <a:srgbClr val="2C3E50"/>
              </a:solidFill>
              <a:latin typeface="+mn-l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TIMELINE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title" idx="0"/>
          </p:nvPr>
        </p:nvSpPr>
        <p:spPr>
          <a:xfrm>
            <a:off x="457200" y="457200"/>
            <a:ext cx="11277600" cy="1143000"/>
          </a:xfrm>
        </p:spPr>
        <p:txBody>
          <a:bodyPr anchor="b"/>
          <a:lstStyle/>
          <a:p>
            <a:pPr algn="l"/>
            <a:endParaRPr lang="en-US" sz="2800" b="1">
              <a:solidFill>
                <a:srgbClr val="1B2A4A"/>
              </a:solidFill>
              <a:latin typeface="+mj-lt"/>
            </a:endParaRPr>
          </a:p>
        </p:txBody>
      </p:sp>
      <p:sp>
        <p:nvSpPr>
          <p:cNvPr id="5" name="Accent Line"/>
          <p:cNvSpPr/>
          <p:nvPr/>
        </p:nvSpPr>
        <p:spPr>
          <a:xfrm>
            <a:off x="457200" y="1828800"/>
            <a:ext cx="11277600" cy="0"/>
          </a:xfrm>
          <a:prstGeom prst="line">
            <a:avLst/>
          </a:prstGeom>
          <a:ln w="28575">
            <a:solidFill>
              <a:srgbClr val="2D7DD2"/>
            </a:solidFill>
          </a:ln>
        </p:spPr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11277600" cy="4343400"/>
          </a:xfrm>
        </p:spPr>
        <p:txBody>
          <a:bodyPr anchor="t"/>
          <a:lstStyle/>
          <a:p>
            <a:endParaRPr lang="en-US" sz="1400">
              <a:solidFill>
                <a:srgbClr val="2C3E50"/>
              </a:solidFill>
              <a:latin typeface="+mn-lt"/>
            </a:endParaRPr>
          </a:p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notesSlide" Target="../notesSlides/notesSlide3.xml"/>
  <Relationship Id="rIdImg1" Type="http://schemas.openxmlformats.org/officeDocument/2006/relationships/image" Target="../media/image1.png"/>
  <Relationship Id="rIdImg2" Type="http://schemas.openxmlformats.org/officeDocument/2006/relationships/image" Target="../media/image2.png"/>
  <Relationship Id="rIdImg3" Type="http://schemas.openxmlformats.org/officeDocument/2006/relationships/image" Target="../media/image3.png"/>
  <Relationship Id="rIdImg4" Type="http://schemas.openxmlformats.org/officeDocument/2006/relationships/image" Target="../media/image4.png"/>
  <Relationship Id="rIdImg5" Type="http://schemas.openxmlformats.org/officeDocument/2006/relationships/image" Target="../media/image5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notesSlide" Target="../notesSlides/notesSlide5.xml"/>
  <Relationship Id="rIdImg6" Type="http://schemas.openxmlformats.org/officeDocument/2006/relationships/image" Target="../media/image6.png"/>
  <Relationship Id="rIdImg7" Type="http://schemas.openxmlformats.org/officeDocument/2006/relationships/image" Target="../media/image7.png"/>
  <Relationship Id="rIdImg8" Type="http://schemas.openxmlformats.org/officeDocument/2006/relationships/image" Target="../media/image8.png"/>
  <Relationship Id="rIdImg9" Type="http://schemas.openxmlformats.org/officeDocument/2006/relationships/image" Target="../media/image9.png"/>
  <Relationship Id="rIdImg10" Type="http://schemas.openxmlformats.org/officeDocument/2006/relationships/image" Target="../media/image10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5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5.xml"/>
  <Relationship Id="rId2" Type="http://schemas.openxmlformats.org/officeDocument/2006/relationships/notesSlide" Target="../notesSlides/notesSlide9.xml"/>
  <Relationship Id="rIdImg11" Type="http://schemas.openxmlformats.org/officeDocument/2006/relationships/image" Target="../media/image11.png"/>
  <Relationship Id="rIdImg12" Type="http://schemas.openxmlformats.org/officeDocument/2006/relationships/image" Target="../media/image12.png"/>
  <Relationship Id="rIdImg13" Type="http://schemas.openxmlformats.org/officeDocument/2006/relationships/image" Target="../media/image13.png"/>
  <Relationship Id="rIdImg14" Type="http://schemas.openxmlformats.org/officeDocument/2006/relationships/image" Target="../media/image14.png"/>
  <Relationship Id="rIdImg15" Type="http://schemas.openxmlformats.org/officeDocument/2006/relationships/image" Target="../media/image15.png"/>
  <Relationship Id="rIdImg16" Type="http://schemas.openxmlformats.org/officeDocument/2006/relationships/image" Target="../media/image16.png"/>
  <Relationship Id="rIdImg17" Type="http://schemas.openxmlformats.org/officeDocument/2006/relationships/image" Target="../media/image17.png"/>
  <Relationship Id="rIdImg18" Type="http://schemas.openxmlformats.org/officeDocument/2006/relationships/image" Target="../media/image18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5.xml"/>
  <Relationship Id="rIdImg19" Type="http://schemas.openxmlformats.org/officeDocument/2006/relationships/image" Target="../media/image19.png"/>
  <Relationship Id="rIdImg20" Type="http://schemas.openxmlformats.org/officeDocument/2006/relationships/image" Target="../media/image20.png"/>
  <Relationship Id="rIdImg21" Type="http://schemas.openxmlformats.org/officeDocument/2006/relationships/image" Target="../media/image21.png"/>
  <Relationship Id="rIdImg22" Type="http://schemas.openxmlformats.org/officeDocument/2006/relationships/image" Target="../media/image22.png"/>
  <Relationship Id="rIdImg23" Type="http://schemas.openxmlformats.org/officeDocument/2006/relationships/image" Target="../media/image23.png"/>
  <Relationship Id="rIdImg24" Type="http://schemas.openxmlformats.org/officeDocument/2006/relationships/image" Target="../media/image24.png"/>
  <Relationship Id="rIdImg25" Type="http://schemas.openxmlformats.org/officeDocument/2006/relationships/image" Target="../media/image25.png"/>
  <Relationship Id="rIdImg26" Type="http://schemas.openxmlformats.org/officeDocument/2006/relationships/image" Target="../media/image26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notesSlide" Target="../notesSlides/notesSlide12.xml"/>
  <Relationship Id="rIdImg27" Type="http://schemas.openxmlformats.org/officeDocument/2006/relationships/image" Target="../media/image27.png"/>
  <Relationship Id="rIdImg28" Type="http://schemas.openxmlformats.org/officeDocument/2006/relationships/image" Target="../media/image28.png"/>
  <Relationship Id="rIdImg29" Type="http://schemas.openxmlformats.org/officeDocument/2006/relationships/image" Target="../media/image29.png"/>
  <Relationship Id="rIdImg30" Type="http://schemas.openxmlformats.org/officeDocument/2006/relationships/image" Target="../media/image30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notesSlide" Target="../notesSlides/notesSlide16.xml"/>
  <Relationship Id="rIdImg31" Type="http://schemas.openxmlformats.org/officeDocument/2006/relationships/image" Target="../media/image31.png"/>
  <Relationship Id="rIdImg32" Type="http://schemas.openxmlformats.org/officeDocument/2006/relationships/image" Target="../media/image32.png"/>
  <Relationship Id="rIdImg33" Type="http://schemas.openxmlformats.org/officeDocument/2006/relationships/image" Target="../media/image33.png"/>
  <Relationship Id="rIdImg34" Type="http://schemas.openxmlformats.org/officeDocument/2006/relationships/image" Target="../media/image34.png"/>
  <Relationship Id="rIdImg35" Type="http://schemas.openxmlformats.org/officeDocument/2006/relationships/image" Target="../media/image35.png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00" name="Placeholder 0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r>
              <a:rPr lang="en-US" dirty="0"/>
              <a:t>pptx-generator</a:t>
            </a:r>
          </a:p>
        </p:txBody>
      </p:sp>
      <p:sp>
        <p:nvSpPr>
          <p:cNvPr id="101" name="Placeholder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 plugin Claude Code qui génère des présentations — et cette slide le prouve.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02" name="Placeholder 0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en-US" dirty="0"/>
              <a:t>Le problème</a:t>
            </a:r>
          </a:p>
        </p:txBody>
      </p:sp>
      <p:sp>
        <p:nvSpPr>
          <p:cNvPr id="103" name="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Pourquoi créer des présentations est pénible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04" name="Placeholder 0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en-US" dirty="0"/>
              <a:t>Créer un deck, c'est long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059180" y="1645920"/>
            <a:ext cx="73533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Ouvrir PowerPoint, choisir un template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059180" y="2148840"/>
            <a:ext cx="73533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Formater chaque slide à la main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059180" y="2651760"/>
            <a:ext cx="73533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Copier-coller des données dans des graphiques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059180" y="3154680"/>
            <a:ext cx="73533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Ajuster les alignements pendant des heures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059180" y="3657600"/>
            <a:ext cx="73533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Recommencer quand le contenu change</a:t>
            </a:r>
          </a:p>
        </p:txBody>
      </p:sp>
      <p:pic>
        <p:nvPicPr>
          <p:cNvPr id="110" name="Icon 110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731520" y="1802130"/>
            <a:ext cx="190500" cy="190500"/>
          </a:xfrm>
          <a:prstGeom prst="rect">
            <a:avLst/>
          </a:prstGeom>
        </p:spPr>
      </p:pic>
      <p:pic>
        <p:nvPicPr>
          <p:cNvPr id="111" name="Icon 111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731520" y="2305050"/>
            <a:ext cx="190500" cy="190500"/>
          </a:xfrm>
          <a:prstGeom prst="rect">
            <a:avLst/>
          </a:prstGeom>
        </p:spPr>
      </p:pic>
      <p:pic>
        <p:nvPicPr>
          <p:cNvPr id="112" name="Icon 112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731520" y="2807970"/>
            <a:ext cx="190500" cy="190500"/>
          </a:xfrm>
          <a:prstGeom prst="rect">
            <a:avLst/>
          </a:prstGeom>
        </p:spPr>
      </p:pic>
      <p:pic>
        <p:nvPicPr>
          <p:cNvPr id="113" name="Icon 113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731520" y="3310890"/>
            <a:ext cx="190500" cy="190500"/>
          </a:xfrm>
          <a:prstGeom prst="rect">
            <a:avLst/>
          </a:prstGeom>
        </p:spPr>
      </p:pic>
      <p:pic>
        <p:nvPicPr>
          <p:cNvPr id="114" name="Icon 114"/>
          <p:cNvPicPr>
            <a:picLocks noChangeAspect="1"/>
          </p:cNvPicPr>
          <p:nvPr/>
        </p:nvPicPr>
        <p:blipFill>
          <a:blip r:embed="rIdImg5"/>
          <a:stretch>
            <a:fillRect/>
          </a:stretch>
        </p:blipFill>
        <p:spPr>
          <a:xfrm>
            <a:off x="731520" y="3813810"/>
            <a:ext cx="190500" cy="1905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15" name="Placeholder 0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en-US" dirty="0"/>
              <a:t>La solution</a:t>
            </a:r>
          </a:p>
        </p:txBody>
      </p:sp>
      <p:sp>
        <p:nvSpPr>
          <p:cNvPr id="116" name="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plugin Claude Code, une commande, un .pptx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17" name="Placeholder 0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en-US" dirty="0"/>
              <a:t>pptx-generator en un coup d'œil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059180" y="1645920"/>
            <a:ext cx="73533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Décris ta présentation en langage naturel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059180" y="2148840"/>
            <a:ext cx="73533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15 types de layouts professionnels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059180" y="2651760"/>
            <a:ext cx="73533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Charts OOXML natifs (bar, line, pie, donut)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059180" y="3154680"/>
            <a:ext cx="73533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Dégradation gracieuse — jamais de crash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59180" y="3657600"/>
            <a:ext cx="73533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Validation de templates avec manifeste</a:t>
            </a:r>
          </a:p>
        </p:txBody>
      </p:sp>
      <p:pic>
        <p:nvPicPr>
          <p:cNvPr id="123" name="Icon 123"/>
          <p:cNvPicPr>
            <a:picLocks noChangeAspect="1"/>
          </p:cNvPicPr>
          <p:nvPr/>
        </p:nvPicPr>
        <p:blipFill>
          <a:blip r:embed="rIdImg6"/>
          <a:stretch>
            <a:fillRect/>
          </a:stretch>
        </p:blipFill>
        <p:spPr>
          <a:xfrm>
            <a:off x="731520" y="1802130"/>
            <a:ext cx="190500" cy="190500"/>
          </a:xfrm>
          <a:prstGeom prst="rect">
            <a:avLst/>
          </a:prstGeom>
        </p:spPr>
      </p:pic>
      <p:pic>
        <p:nvPicPr>
          <p:cNvPr id="124" name="Icon 124"/>
          <p:cNvPicPr>
            <a:picLocks noChangeAspect="1"/>
          </p:cNvPicPr>
          <p:nvPr/>
        </p:nvPicPr>
        <p:blipFill>
          <a:blip r:embed="rIdImg7"/>
          <a:stretch>
            <a:fillRect/>
          </a:stretch>
        </p:blipFill>
        <p:spPr>
          <a:xfrm>
            <a:off x="731520" y="2305050"/>
            <a:ext cx="190500" cy="190500"/>
          </a:xfrm>
          <a:prstGeom prst="rect">
            <a:avLst/>
          </a:prstGeom>
        </p:spPr>
      </p:pic>
      <p:pic>
        <p:nvPicPr>
          <p:cNvPr id="125" name="Icon 125"/>
          <p:cNvPicPr>
            <a:picLocks noChangeAspect="1"/>
          </p:cNvPicPr>
          <p:nvPr/>
        </p:nvPicPr>
        <p:blipFill>
          <a:blip r:embed="rIdImg8"/>
          <a:stretch>
            <a:fillRect/>
          </a:stretch>
        </p:blipFill>
        <p:spPr>
          <a:xfrm>
            <a:off x="731520" y="2807970"/>
            <a:ext cx="190500" cy="190500"/>
          </a:xfrm>
          <a:prstGeom prst="rect">
            <a:avLst/>
          </a:prstGeom>
        </p:spPr>
      </p:pic>
      <p:pic>
        <p:nvPicPr>
          <p:cNvPr id="126" name="Icon 126"/>
          <p:cNvPicPr>
            <a:picLocks noChangeAspect="1"/>
          </p:cNvPicPr>
          <p:nvPr/>
        </p:nvPicPr>
        <p:blipFill>
          <a:blip r:embed="rIdImg9"/>
          <a:stretch>
            <a:fillRect/>
          </a:stretch>
        </p:blipFill>
        <p:spPr>
          <a:xfrm>
            <a:off x="731520" y="3310890"/>
            <a:ext cx="190500" cy="190500"/>
          </a:xfrm>
          <a:prstGeom prst="rect">
            <a:avLst/>
          </a:prstGeom>
        </p:spPr>
      </p:pic>
      <p:pic>
        <p:nvPicPr>
          <p:cNvPr id="127" name="Icon 127"/>
          <p:cNvPicPr>
            <a:picLocks noChangeAspect="1"/>
          </p:cNvPicPr>
          <p:nvPr/>
        </p:nvPicPr>
        <p:blipFill>
          <a:blip r:embed="rIdImg10"/>
          <a:stretch>
            <a:fillRect/>
          </a:stretch>
        </p:blipFill>
        <p:spPr>
          <a:xfrm>
            <a:off x="731520" y="3813810"/>
            <a:ext cx="190500" cy="19050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28" name="Placeholder 0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129" name="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options, une minute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30" name="Placeholder 0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en-US" dirty="0"/>
              <a:t>Choisissez votre méthode</a:t>
            </a:r>
          </a:p>
        </p:txBody>
      </p:sp>
      <p:sp>
        <p:nvSpPr>
          <p:cNvPr id="131" name="Content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Développement local :</a:t>
            </a:r>
          </a:p>
          <a:p>
            <a:pPr lvl="0"/>
            <a:r>
              <a:rPr lang="en-US" dirty="0"/>
              <a:t>claude --plugin-dir ./pptx-generator</a:t>
            </a:r>
          </a:p>
          <a:p>
            <a:pPr lvl="0"/>
            <a:r>
              <a:rPr lang="en-US" dirty="0"/>
              <a:t>Depuis le marketplace :</a:t>
            </a:r>
          </a:p>
          <a:p>
            <a:pPr lvl="0"/>
            <a:r>
              <a:rPr lang="en-US" dirty="0"/>
              <a:t>claude plugin install pptx-generator</a:t>
            </a:r>
          </a:p>
        </p:txBody>
      </p:sp>
      <p:sp>
        <p:nvSpPr>
          <p:cNvPr id="132" name="Content 2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 lvl="0"/>
            <a:r>
              <a:rPr lang="en-US" dirty="0"/>
              <a:t>Chargement automatique du plugin</a:t>
            </a:r>
          </a:p>
          <a:p>
            <a:pPr lvl="0"/>
            <a:r>
              <a:rPr lang="en-US" dirty="0"/>
              <a:t>Détection des mots-clés : deck, slides...</a:t>
            </a:r>
          </a:p>
          <a:p>
            <a:pPr lvl="0"/>
            <a:r>
              <a:rPr lang="en-US" dirty="0"/>
              <a:t>Gabarit Tier 2 professionnel inclus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33" name="Placeholder 0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en-US" dirty="0"/>
              <a:t>4 modes d'utilisation</a:t>
            </a:r>
          </a:p>
        </p:txBody>
      </p:sp>
      <p:sp>
        <p:nvSpPr>
          <p:cNvPr id="134" name="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 plus simple au plus contrôlé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35" name="Placeholder 0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en-US" dirty="0"/>
              <a:t>Modes de génération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1059180" y="1645920"/>
            <a:ext cx="33299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Mode 1 — Prompt libre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059180" y="2148840"/>
            <a:ext cx="33299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« Fais-moi un deck sur l'IA »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1059180" y="2651760"/>
            <a:ext cx="33299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Claude génère l'AST JSON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1059180" y="3154680"/>
            <a:ext cx="33299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Le plugin transforme et rend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5082540" y="1645920"/>
            <a:ext cx="33299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Mode 2 — AST JSON direct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5082540" y="2148840"/>
            <a:ext cx="33299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Tu fournis le JSON structuré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5082540" y="2651760"/>
            <a:ext cx="33299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Validation Zod instantanée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5082540" y="3154680"/>
            <a:ext cx="33299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Contrôle total du contenu</a:t>
            </a:r>
          </a:p>
        </p:txBody>
      </p:sp>
      <p:pic>
        <p:nvPicPr>
          <p:cNvPr id="144" name="Icon 144"/>
          <p:cNvPicPr>
            <a:picLocks noChangeAspect="1"/>
          </p:cNvPicPr>
          <p:nvPr/>
        </p:nvPicPr>
        <p:blipFill>
          <a:blip r:embed="rIdImg11"/>
          <a:stretch>
            <a:fillRect/>
          </a:stretch>
        </p:blipFill>
        <p:spPr>
          <a:xfrm>
            <a:off x="731520" y="1802130"/>
            <a:ext cx="190500" cy="190500"/>
          </a:xfrm>
          <a:prstGeom prst="rect">
            <a:avLst/>
          </a:prstGeom>
        </p:spPr>
      </p:pic>
      <p:pic>
        <p:nvPicPr>
          <p:cNvPr id="145" name="Icon 145"/>
          <p:cNvPicPr>
            <a:picLocks noChangeAspect="1"/>
          </p:cNvPicPr>
          <p:nvPr/>
        </p:nvPicPr>
        <p:blipFill>
          <a:blip r:embed="rIdImg12"/>
          <a:stretch>
            <a:fillRect/>
          </a:stretch>
        </p:blipFill>
        <p:spPr>
          <a:xfrm>
            <a:off x="731520" y="2305050"/>
            <a:ext cx="190500" cy="190500"/>
          </a:xfrm>
          <a:prstGeom prst="rect">
            <a:avLst/>
          </a:prstGeom>
        </p:spPr>
      </p:pic>
      <p:pic>
        <p:nvPicPr>
          <p:cNvPr id="146" name="Icon 146"/>
          <p:cNvPicPr>
            <a:picLocks noChangeAspect="1"/>
          </p:cNvPicPr>
          <p:nvPr/>
        </p:nvPicPr>
        <p:blipFill>
          <a:blip r:embed="rIdImg13"/>
          <a:stretch>
            <a:fillRect/>
          </a:stretch>
        </p:blipFill>
        <p:spPr>
          <a:xfrm>
            <a:off x="731520" y="2807970"/>
            <a:ext cx="190500" cy="190500"/>
          </a:xfrm>
          <a:prstGeom prst="rect">
            <a:avLst/>
          </a:prstGeom>
        </p:spPr>
      </p:pic>
      <p:pic>
        <p:nvPicPr>
          <p:cNvPr id="147" name="Icon 147"/>
          <p:cNvPicPr>
            <a:picLocks noChangeAspect="1"/>
          </p:cNvPicPr>
          <p:nvPr/>
        </p:nvPicPr>
        <p:blipFill>
          <a:blip r:embed="rIdImg14"/>
          <a:stretch>
            <a:fillRect/>
          </a:stretch>
        </p:blipFill>
        <p:spPr>
          <a:xfrm>
            <a:off x="731520" y="3310890"/>
            <a:ext cx="190500" cy="190500"/>
          </a:xfrm>
          <a:prstGeom prst="rect">
            <a:avLst/>
          </a:prstGeom>
        </p:spPr>
      </p:pic>
      <p:pic>
        <p:nvPicPr>
          <p:cNvPr id="148" name="Icon 148"/>
          <p:cNvPicPr>
            <a:picLocks noChangeAspect="1"/>
          </p:cNvPicPr>
          <p:nvPr/>
        </p:nvPicPr>
        <p:blipFill>
          <a:blip r:embed="rIdImg15"/>
          <a:stretch>
            <a:fillRect/>
          </a:stretch>
        </p:blipFill>
        <p:spPr>
          <a:xfrm>
            <a:off x="4754880" y="1802130"/>
            <a:ext cx="190500" cy="190500"/>
          </a:xfrm>
          <a:prstGeom prst="rect">
            <a:avLst/>
          </a:prstGeom>
        </p:spPr>
      </p:pic>
      <p:pic>
        <p:nvPicPr>
          <p:cNvPr id="149" name="Icon 149"/>
          <p:cNvPicPr>
            <a:picLocks noChangeAspect="1"/>
          </p:cNvPicPr>
          <p:nvPr/>
        </p:nvPicPr>
        <p:blipFill>
          <a:blip r:embed="rIdImg16"/>
          <a:stretch>
            <a:fillRect/>
          </a:stretch>
        </p:blipFill>
        <p:spPr>
          <a:xfrm>
            <a:off x="4754880" y="2305050"/>
            <a:ext cx="190500" cy="190500"/>
          </a:xfrm>
          <a:prstGeom prst="rect">
            <a:avLst/>
          </a:prstGeom>
        </p:spPr>
      </p:pic>
      <p:pic>
        <p:nvPicPr>
          <p:cNvPr id="150" name="Icon 150"/>
          <p:cNvPicPr>
            <a:picLocks noChangeAspect="1"/>
          </p:cNvPicPr>
          <p:nvPr/>
        </p:nvPicPr>
        <p:blipFill>
          <a:blip r:embed="rIdImg17"/>
          <a:stretch>
            <a:fillRect/>
          </a:stretch>
        </p:blipFill>
        <p:spPr>
          <a:xfrm>
            <a:off x="4754880" y="2807970"/>
            <a:ext cx="190500" cy="190500"/>
          </a:xfrm>
          <a:prstGeom prst="rect">
            <a:avLst/>
          </a:prstGeom>
        </p:spPr>
      </p:pic>
      <p:pic>
        <p:nvPicPr>
          <p:cNvPr id="151" name="Icon 151"/>
          <p:cNvPicPr>
            <a:picLocks noChangeAspect="1"/>
          </p:cNvPicPr>
          <p:nvPr/>
        </p:nvPicPr>
        <p:blipFill>
          <a:blip r:embed="rIdImg18"/>
          <a:stretch>
            <a:fillRect/>
          </a:stretch>
        </p:blipFill>
        <p:spPr>
          <a:xfrm>
            <a:off x="4754880" y="3310890"/>
            <a:ext cx="190500" cy="19050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52" name="Placeholder 0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en-US" dirty="0"/>
              <a:t>Modes données et validation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1059180" y="1645920"/>
            <a:ext cx="33299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Mode 3 — Données CSV/JSON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1059180" y="2148840"/>
            <a:ext cx="33299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Détection auto du type de données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1059180" y="2651760"/>
            <a:ext cx="33299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KPI, timeline, ou tableau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1059180" y="3154680"/>
            <a:ext cx="33299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Narration LLM contextuelle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5082540" y="1645920"/>
            <a:ext cx="33299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Mode 4 — Validation de gabarit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5082540" y="2148840"/>
            <a:ext cx="33299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30+ règles (LAY, PH, DIM, THM)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5082540" y="2651760"/>
            <a:ext cx="33299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Manifeste de capacités généré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5082540" y="3154680"/>
            <a:ext cx="33299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PPTX démo en option</a:t>
            </a:r>
          </a:p>
        </p:txBody>
      </p:sp>
      <p:pic>
        <p:nvPicPr>
          <p:cNvPr id="161" name="Icon 161"/>
          <p:cNvPicPr>
            <a:picLocks noChangeAspect="1"/>
          </p:cNvPicPr>
          <p:nvPr/>
        </p:nvPicPr>
        <p:blipFill>
          <a:blip r:embed="rIdImg19"/>
          <a:stretch>
            <a:fillRect/>
          </a:stretch>
        </p:blipFill>
        <p:spPr>
          <a:xfrm>
            <a:off x="731520" y="1802130"/>
            <a:ext cx="190500" cy="190500"/>
          </a:xfrm>
          <a:prstGeom prst="rect">
            <a:avLst/>
          </a:prstGeom>
        </p:spPr>
      </p:pic>
      <p:pic>
        <p:nvPicPr>
          <p:cNvPr id="162" name="Icon 162"/>
          <p:cNvPicPr>
            <a:picLocks noChangeAspect="1"/>
          </p:cNvPicPr>
          <p:nvPr/>
        </p:nvPicPr>
        <p:blipFill>
          <a:blip r:embed="rIdImg20"/>
          <a:stretch>
            <a:fillRect/>
          </a:stretch>
        </p:blipFill>
        <p:spPr>
          <a:xfrm>
            <a:off x="731520" y="2305050"/>
            <a:ext cx="190500" cy="190500"/>
          </a:xfrm>
          <a:prstGeom prst="rect">
            <a:avLst/>
          </a:prstGeom>
        </p:spPr>
      </p:pic>
      <p:pic>
        <p:nvPicPr>
          <p:cNvPr id="163" name="Icon 163"/>
          <p:cNvPicPr>
            <a:picLocks noChangeAspect="1"/>
          </p:cNvPicPr>
          <p:nvPr/>
        </p:nvPicPr>
        <p:blipFill>
          <a:blip r:embed="rIdImg21"/>
          <a:stretch>
            <a:fillRect/>
          </a:stretch>
        </p:blipFill>
        <p:spPr>
          <a:xfrm>
            <a:off x="731520" y="2807970"/>
            <a:ext cx="190500" cy="190500"/>
          </a:xfrm>
          <a:prstGeom prst="rect">
            <a:avLst/>
          </a:prstGeom>
        </p:spPr>
      </p:pic>
      <p:pic>
        <p:nvPicPr>
          <p:cNvPr id="164" name="Icon 164"/>
          <p:cNvPicPr>
            <a:picLocks noChangeAspect="1"/>
          </p:cNvPicPr>
          <p:nvPr/>
        </p:nvPicPr>
        <p:blipFill>
          <a:blip r:embed="rIdImg22"/>
          <a:stretch>
            <a:fillRect/>
          </a:stretch>
        </p:blipFill>
        <p:spPr>
          <a:xfrm>
            <a:off x="731520" y="3310890"/>
            <a:ext cx="190500" cy="190500"/>
          </a:xfrm>
          <a:prstGeom prst="rect">
            <a:avLst/>
          </a:prstGeom>
        </p:spPr>
      </p:pic>
      <p:pic>
        <p:nvPicPr>
          <p:cNvPr id="165" name="Icon 165"/>
          <p:cNvPicPr>
            <a:picLocks noChangeAspect="1"/>
          </p:cNvPicPr>
          <p:nvPr/>
        </p:nvPicPr>
        <p:blipFill>
          <a:blip r:embed="rIdImg23"/>
          <a:stretch>
            <a:fillRect/>
          </a:stretch>
        </p:blipFill>
        <p:spPr>
          <a:xfrm>
            <a:off x="4754880" y="1802130"/>
            <a:ext cx="190500" cy="190500"/>
          </a:xfrm>
          <a:prstGeom prst="rect">
            <a:avLst/>
          </a:prstGeom>
        </p:spPr>
      </p:pic>
      <p:pic>
        <p:nvPicPr>
          <p:cNvPr id="166" name="Icon 166"/>
          <p:cNvPicPr>
            <a:picLocks noChangeAspect="1"/>
          </p:cNvPicPr>
          <p:nvPr/>
        </p:nvPicPr>
        <p:blipFill>
          <a:blip r:embed="rIdImg24"/>
          <a:stretch>
            <a:fillRect/>
          </a:stretch>
        </p:blipFill>
        <p:spPr>
          <a:xfrm>
            <a:off x="4754880" y="2305050"/>
            <a:ext cx="190500" cy="190500"/>
          </a:xfrm>
          <a:prstGeom prst="rect">
            <a:avLst/>
          </a:prstGeom>
        </p:spPr>
      </p:pic>
      <p:pic>
        <p:nvPicPr>
          <p:cNvPr id="167" name="Icon 167"/>
          <p:cNvPicPr>
            <a:picLocks noChangeAspect="1"/>
          </p:cNvPicPr>
          <p:nvPr/>
        </p:nvPicPr>
        <p:blipFill>
          <a:blip r:embed="rIdImg25"/>
          <a:stretch>
            <a:fillRect/>
          </a:stretch>
        </p:blipFill>
        <p:spPr>
          <a:xfrm>
            <a:off x="4754880" y="2807970"/>
            <a:ext cx="190500" cy="190500"/>
          </a:xfrm>
          <a:prstGeom prst="rect">
            <a:avLst/>
          </a:prstGeom>
        </p:spPr>
      </p:pic>
      <p:pic>
        <p:nvPicPr>
          <p:cNvPr id="168" name="Icon 168"/>
          <p:cNvPicPr>
            <a:picLocks noChangeAspect="1"/>
          </p:cNvPicPr>
          <p:nvPr/>
        </p:nvPicPr>
        <p:blipFill>
          <a:blip r:embed="rIdImg26"/>
          <a:stretch>
            <a:fillRect/>
          </a:stretch>
        </p:blipFill>
        <p:spPr>
          <a:xfrm>
            <a:off x="4754880" y="3310890"/>
            <a:ext cx="190500" cy="19050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69" name="Placeholder 0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en-US" dirty="0"/>
              <a:t>Le pipeline interne</a:t>
            </a:r>
          </a:p>
        </p:txBody>
      </p:sp>
      <p:sp>
        <p:nvSpPr>
          <p:cNvPr id="170" name="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Parser → Transform → Renderer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71" name="Placeholder 0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en-US" dirty="0"/>
              <a:t>De l'entrée au .pptx en 4 étapes</a:t>
            </a:r>
          </a:p>
        </p:txBody>
      </p:sp>
      <p:sp>
        <p:nvSpPr>
          <p:cNvPr id="172" name="Connector 172"/>
          <p:cNvSpPr/>
          <p:nvPr/>
        </p:nvSpPr>
        <p:spPr>
          <a:xfrm>
            <a:off x="914400" y="3017520"/>
            <a:ext cx="7315200" cy="0"/>
          </a:xfrm>
          <a:prstGeom prst="line">
            <a:avLst/>
          </a:prstGeom>
          <a:noFill/>
          <a:ln w="25400">
            <a:solidFill>
              <a:srgbClr val="1B2A4A"/>
            </a:solidFill>
          </a:ln>
        </p:spPr>
      </p:sp>
      <p:sp>
        <p:nvSpPr>
          <p:cNvPr id="173" name="TextBox 173"/>
          <p:cNvSpPr txBox="1"/>
          <p:nvPr/>
        </p:nvSpPr>
        <p:spPr>
          <a:xfrm>
            <a:off x="320040" y="219456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1B2A4A"/>
                </a:solidFill>
              </a:rPr>
              <a:t>Parser : valide l'AST (Zod)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320040" y="25603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dirty="0">
                <a:solidFill>
                  <a:srgbClr val="888888"/>
                </a:solidFill>
              </a:rPr>
              <a:t>Étape 1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2758440" y="33832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1B2A4A"/>
                </a:solidFill>
              </a:rPr>
              <a:t>Résolution des layouts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2758440" y="37490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dirty="0">
                <a:solidFill>
                  <a:srgbClr val="888888"/>
                </a:solidFill>
              </a:rPr>
              <a:t>Étape 2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5196840" y="219456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1B2A4A"/>
                </a:solidFill>
              </a:rPr>
              <a:t>Validation du contenu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5196840" y="25603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dirty="0">
                <a:solidFill>
                  <a:srgbClr val="888888"/>
                </a:solidFill>
              </a:rPr>
              <a:t>Étape 3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7635240" y="33832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1B2A4A"/>
                </a:solidFill>
              </a:rPr>
              <a:t>Renderer OOXML (JSZip)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7635240" y="37490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900" dirty="0">
                <a:solidFill>
                  <a:srgbClr val="888888"/>
                </a:solidFill>
              </a:rPr>
              <a:t>Étape 4</a:t>
            </a:r>
          </a:p>
        </p:txBody>
      </p:sp>
      <p:pic>
        <p:nvPicPr>
          <p:cNvPr id="181" name="Icon 181"/>
          <p:cNvPicPr>
            <a:picLocks noChangeAspect="1"/>
          </p:cNvPicPr>
          <p:nvPr/>
        </p:nvPicPr>
        <p:blipFill>
          <a:blip r:embed="rIdImg27"/>
          <a:stretch>
            <a:fillRect/>
          </a:stretch>
        </p:blipFill>
        <p:spPr>
          <a:xfrm>
            <a:off x="800100" y="2903220"/>
            <a:ext cx="228600" cy="228600"/>
          </a:xfrm>
          <a:prstGeom prst="rect">
            <a:avLst/>
          </a:prstGeom>
        </p:spPr>
      </p:pic>
      <p:pic>
        <p:nvPicPr>
          <p:cNvPr id="182" name="Icon 182"/>
          <p:cNvPicPr>
            <a:picLocks noChangeAspect="1"/>
          </p:cNvPicPr>
          <p:nvPr/>
        </p:nvPicPr>
        <p:blipFill>
          <a:blip r:embed="rIdImg28"/>
          <a:stretch>
            <a:fillRect/>
          </a:stretch>
        </p:blipFill>
        <p:spPr>
          <a:xfrm>
            <a:off x="3238500" y="2903220"/>
            <a:ext cx="228600" cy="228600"/>
          </a:xfrm>
          <a:prstGeom prst="rect">
            <a:avLst/>
          </a:prstGeom>
        </p:spPr>
      </p:pic>
      <p:pic>
        <p:nvPicPr>
          <p:cNvPr id="183" name="Icon 183"/>
          <p:cNvPicPr>
            <a:picLocks noChangeAspect="1"/>
          </p:cNvPicPr>
          <p:nvPr/>
        </p:nvPicPr>
        <p:blipFill>
          <a:blip r:embed="rIdImg29"/>
          <a:stretch>
            <a:fillRect/>
          </a:stretch>
        </p:blipFill>
        <p:spPr>
          <a:xfrm>
            <a:off x="5676900" y="2903220"/>
            <a:ext cx="228600" cy="228600"/>
          </a:xfrm>
          <a:prstGeom prst="rect">
            <a:avLst/>
          </a:prstGeom>
        </p:spPr>
      </p:pic>
      <p:pic>
        <p:nvPicPr>
          <p:cNvPr id="184" name="Icon 184"/>
          <p:cNvPicPr>
            <a:picLocks noChangeAspect="1"/>
          </p:cNvPicPr>
          <p:nvPr/>
        </p:nvPicPr>
        <p:blipFill>
          <a:blip r:embed="rIdImg30"/>
          <a:stretch>
            <a:fillRect/>
          </a:stretch>
        </p:blipFill>
        <p:spPr>
          <a:xfrm>
            <a:off x="8115300" y="2903220"/>
            <a:ext cx="228600" cy="228600"/>
          </a:xfrm>
          <a:prstGeom prst="rect">
            <a:avLst/>
          </a:prstGeom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85" name="Placeholder 0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en-US" dirty="0"/>
              <a:t>Dégradation gracieuse</a:t>
            </a:r>
          </a:p>
        </p:txBody>
      </p:sp>
      <p:sp>
        <p:nvSpPr>
          <p:cNvPr id="186" name="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système s'adapte au gabarit — la slide suivante le prouve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87" name="Placeholder 0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en-US" dirty="0"/>
              <a:t>Le plugin en chiffres (dégradé !)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88" name="Placeholder 0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en-US" dirty="0"/>
              <a:t>Cette présentation est méta</a:t>
            </a:r>
          </a:p>
        </p:txBody>
      </p:sp>
      <p:sp>
        <p:nvSpPr>
          <p:cNvPr id="189" name="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Elle a été générée par le plugin qu'elle décrit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90" name="Placeholder 0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en-US" dirty="0"/>
              <a:t>Ce que vous venez de voir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1059180" y="1645920"/>
            <a:ext cx="73533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Un AST JSON de 17 slides, écrit par Claude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1059180" y="2148840"/>
            <a:ext cx="73533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Passé dans generateFromAST() — le Mode 2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1059180" y="2651760"/>
            <a:ext cx="73533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Layouts natifs : title, section, bullets, twoColumns, timeline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1059180" y="3154680"/>
            <a:ext cx="73533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Icônes Lucide rendues en PNG à la volée</a:t>
            </a:r>
          </a:p>
        </p:txBody>
      </p:sp>
      <p:sp>
        <p:nvSpPr>
          <p:cNvPr id="195" name="TextBox 195"/>
          <p:cNvSpPr txBox="1"/>
          <p:nvPr/>
        </p:nvSpPr>
        <p:spPr>
          <a:xfrm>
            <a:off x="1059180" y="3657600"/>
            <a:ext cx="73533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dirty="0">
                <a:solidFill>
                  <a:srgbClr val="000000"/>
                </a:solidFill>
              </a:rPr>
              <a:t>Un slide KPI dégradé automatiquement (slide 14)</a:t>
            </a:r>
          </a:p>
        </p:txBody>
      </p:sp>
      <p:pic>
        <p:nvPicPr>
          <p:cNvPr id="196" name="Icon 196"/>
          <p:cNvPicPr>
            <a:picLocks noChangeAspect="1"/>
          </p:cNvPicPr>
          <p:nvPr/>
        </p:nvPicPr>
        <p:blipFill>
          <a:blip r:embed="rIdImg31"/>
          <a:stretch>
            <a:fillRect/>
          </a:stretch>
        </p:blipFill>
        <p:spPr>
          <a:xfrm>
            <a:off x="731520" y="1802130"/>
            <a:ext cx="190500" cy="190500"/>
          </a:xfrm>
          <a:prstGeom prst="rect">
            <a:avLst/>
          </a:prstGeom>
        </p:spPr>
      </p:pic>
      <p:pic>
        <p:nvPicPr>
          <p:cNvPr id="197" name="Icon 197"/>
          <p:cNvPicPr>
            <a:picLocks noChangeAspect="1"/>
          </p:cNvPicPr>
          <p:nvPr/>
        </p:nvPicPr>
        <p:blipFill>
          <a:blip r:embed="rIdImg32"/>
          <a:stretch>
            <a:fillRect/>
          </a:stretch>
        </p:blipFill>
        <p:spPr>
          <a:xfrm>
            <a:off x="731520" y="2305050"/>
            <a:ext cx="190500" cy="190500"/>
          </a:xfrm>
          <a:prstGeom prst="rect">
            <a:avLst/>
          </a:prstGeom>
        </p:spPr>
      </p:pic>
      <p:pic>
        <p:nvPicPr>
          <p:cNvPr id="198" name="Icon 198"/>
          <p:cNvPicPr>
            <a:picLocks noChangeAspect="1"/>
          </p:cNvPicPr>
          <p:nvPr/>
        </p:nvPicPr>
        <p:blipFill>
          <a:blip r:embed="rIdImg33"/>
          <a:stretch>
            <a:fillRect/>
          </a:stretch>
        </p:blipFill>
        <p:spPr>
          <a:xfrm>
            <a:off x="731520" y="2807970"/>
            <a:ext cx="190500" cy="190500"/>
          </a:xfrm>
          <a:prstGeom prst="rect">
            <a:avLst/>
          </a:prstGeom>
        </p:spPr>
      </p:pic>
      <p:pic>
        <p:nvPicPr>
          <p:cNvPr id="199" name="Icon 199"/>
          <p:cNvPicPr>
            <a:picLocks noChangeAspect="1"/>
          </p:cNvPicPr>
          <p:nvPr/>
        </p:nvPicPr>
        <p:blipFill>
          <a:blip r:embed="rIdImg34"/>
          <a:stretch>
            <a:fillRect/>
          </a:stretch>
        </p:blipFill>
        <p:spPr>
          <a:xfrm>
            <a:off x="731520" y="3310890"/>
            <a:ext cx="190500" cy="190500"/>
          </a:xfrm>
          <a:prstGeom prst="rect">
            <a:avLst/>
          </a:prstGeom>
        </p:spPr>
      </p:pic>
      <p:pic>
        <p:nvPicPr>
          <p:cNvPr id="200" name="Icon 200"/>
          <p:cNvPicPr>
            <a:picLocks noChangeAspect="1"/>
          </p:cNvPicPr>
          <p:nvPr/>
        </p:nvPicPr>
        <p:blipFill>
          <a:blip r:embed="rIdImg35"/>
          <a:stretch>
            <a:fillRect/>
          </a:stretch>
        </p:blipFill>
        <p:spPr>
          <a:xfrm>
            <a:off x="731520" y="3813810"/>
            <a:ext cx="190500" cy="190500"/>
          </a:xfrm>
          <a:prstGeom prst="rect">
            <a:avLst/>
          </a:prstGeom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201" name="Placeholder 0"/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r>
              <a:rPr lang="en-US" dirty="0"/>
              <a:t>Essayez-le</a:t>
            </a:r>
          </a:p>
        </p:txBody>
      </p:sp>
      <p:sp>
        <p:nvSpPr>
          <p:cNvPr id="202" name="Placeholder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« Fais-moi une présentation sur... » — c'est tout ce qu'il faut.</a:t>
            </a:r>
          </a:p>
        </p:txBody>
      </p:sp>
    </p:spTree>
  </p:cSld>
</p:sld>
</file>

<file path=ppt/theme/theme1.xml><?xml version="1.0" encoding="utf-8"?>
<a:theme xmlns:a="http://schemas.openxmlformats.org/drawingml/2006/main" name="Professional">
  <a:themeElements>
    <a:clrScheme name="Professional">
      <a:dk1>
        <a:srgbClr val="1B2A4A"/>
      </a:dk1>
      <a:lt1>
        <a:srgbClr val="FFFFFF"/>
      </a:lt1>
      <a:dk2>
        <a:srgbClr val="2C3E50"/>
      </a:dk2>
      <a:lt2>
        <a:srgbClr val="F7F9FC"/>
      </a:lt2>
      <a:accent1>
        <a:srgbClr val="1B2A4A"/>
      </a:accent1>
      <a:accent2>
        <a:srgbClr val="2D7DD2"/>
      </a:accent2>
      <a:accent3>
        <a:srgbClr val="17A2B8"/>
      </a:accent3>
      <a:accent4>
        <a:srgbClr val="E8625C"/>
      </a:accent4>
      <a:accent5>
        <a:srgbClr val="27AE60"/>
      </a:accent5>
      <a:accent6>
        <a:srgbClr val="F39C12"/>
      </a:accent6>
      <a:hlink>
        <a:srgbClr val="0563C1"/>
      </a:hlink>
      <a:folHlink>
        <a:srgbClr val="954F72"/>
      </a:folHlink>
    </a:clrScheme>
    <a:fontScheme name="ProfessionalFont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efault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